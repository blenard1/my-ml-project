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6"/>
  </p:sldMasterIdLst>
  <p:sldIdLst>
    <p:sldId id="256" r:id="rId1"/>
    <p:sldId id="257" r:id="rId2"/>
    <p:sldId id="258" r:id="rId3"/>
    <p:sldId id="259" r:id="rId4"/>
    <p:sldId id="260" r:id="rId5"/>
  </p:sldIdLst>
  <p:sldSz cx="12191695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Master" Target="slideMasters/slideMaster1.xml"/>
<Relationship Id="rId7" Type="http://schemas.openxmlformats.org/officeDocument/2006/relationships/theme" Target="theme/theme1.xml"/>
</Relationships>
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22960" y="749808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dirty="0">
                <a:solidFill>
                  <a:srgbClr val="111827"/>
                </a:solidFill>
                <a:b/>
              </a:rPr>
              <a:t>Salient Object Detection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392" y="1536192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700" dirty="0">
                <a:solidFill>
                  <a:srgbClr val="475569"/>
                </a:solidFill>
              </a:rPr>
              <a:t>End-to-end CNN pipeline from scratch</a:t>
            </a:r>
          </a:p>
        </p:txBody>
      </p:sp>
      <p:sp>
        <p:nvSpPr>
          <p:cNvPr id="6" name="Rectangle 6"/>
          <p:cNvSpPr/>
          <p:nvPr/>
        </p:nvSpPr>
        <p:spPr>
          <a:xfrm>
            <a:off x="932688" y="2487168"/>
            <a:ext cx="109728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34440" y="237744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Input RGB image</a:t>
            </a:r>
          </a:p>
        </p:txBody>
      </p:sp>
      <p:sp>
        <p:nvSpPr>
          <p:cNvPr id="8" name="Rectangle 8"/>
          <p:cNvSpPr/>
          <p:nvPr/>
        </p:nvSpPr>
        <p:spPr>
          <a:xfrm>
            <a:off x="932688" y="3072384"/>
            <a:ext cx="109728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34440" y="2962656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One-channel saliency mask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32688" y="3657600"/>
            <a:ext cx="109728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234440" y="3547872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Overlay for visual inspection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0392" y="62453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100" dirty="0">
                <a:solidFill>
                  <a:srgbClr val="64748B"/>
                </a:solidFill>
              </a:rPr>
              <a:t>Project #3 | ML/DL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09960" y="62362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200" dirty="0">
                <a:solidFill>
                  <a:srgbClr val="64748B"/>
                </a:solidFill>
                <a:b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22960" y="749808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dirty="0">
                <a:solidFill>
                  <a:srgbClr val="111827"/>
                </a:solidFill>
                <a:b/>
              </a:rPr>
              <a:t>Dataset and Pipeline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392" y="1536192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700" dirty="0">
                <a:solidFill>
                  <a:srgbClr val="475569"/>
                </a:solidFill>
              </a:rPr>
              <a:t>ECSSD image/mask pairs with deterministic train/val/test splits</a:t>
            </a:r>
          </a:p>
        </p:txBody>
      </p:sp>
      <p:sp>
        <p:nvSpPr>
          <p:cNvPr id="6" name="Rectangle 6"/>
          <p:cNvSpPr/>
          <p:nvPr/>
        </p:nvSpPr>
        <p:spPr>
          <a:xfrm>
            <a:off x="932688" y="2487168"/>
            <a:ext cx="109728" cy="10972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34440" y="237744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Paired loader matches images and masks by filename stem</a:t>
            </a:r>
          </a:p>
        </p:txBody>
      </p:sp>
      <p:sp>
        <p:nvSpPr>
          <p:cNvPr id="8" name="Rectangle 8"/>
          <p:cNvSpPr/>
          <p:nvPr/>
        </p:nvSpPr>
        <p:spPr>
          <a:xfrm>
            <a:off x="932688" y="3072384"/>
            <a:ext cx="109728" cy="10972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34440" y="2962656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Resize to 128 x 128 or 224 x 224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32688" y="3657600"/>
            <a:ext cx="109728" cy="10972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234440" y="3547872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Horizontal flip, random crop, brightness, and contrast jitter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32688" y="4242816"/>
            <a:ext cx="109728" cy="109728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234440" y="413308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Masks stay aligned with nearest-neighbor resizing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0392" y="62453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100" dirty="0">
                <a:solidFill>
                  <a:srgbClr val="64748B"/>
                </a:solidFill>
              </a:rPr>
              <a:t>data_loader.py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09960" y="62362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200" dirty="0">
                <a:solidFill>
                  <a:srgbClr val="64748B"/>
                </a:solidFill>
                <a:b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22960" y="749808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dirty="0">
                <a:solidFill>
                  <a:srgbClr val="111827"/>
                </a:solidFill>
                <a:b/>
              </a:rPr>
              <a:t>CNN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392" y="1536192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700" dirty="0">
                <a:solidFill>
                  <a:srgbClr val="475569"/>
                </a:solidFill>
              </a:rPr>
              <a:t>From-scratch encoder-decoder with skip connections</a:t>
            </a:r>
          </a:p>
        </p:txBody>
      </p:sp>
      <p:sp>
        <p:nvSpPr>
          <p:cNvPr id="6" name="Rectangle 6"/>
          <p:cNvSpPr/>
          <p:nvPr/>
        </p:nvSpPr>
        <p:spPr>
          <a:xfrm>
            <a:off x="932688" y="2487168"/>
            <a:ext cx="109728" cy="10972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34440" y="237744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Four Conv2D encoder levels with ReLU, MaxPool, and BatchNorm</a:t>
            </a:r>
          </a:p>
        </p:txBody>
      </p:sp>
      <p:sp>
        <p:nvSpPr>
          <p:cNvPr id="8" name="Rectangle 8"/>
          <p:cNvSpPr/>
          <p:nvPr/>
        </p:nvSpPr>
        <p:spPr>
          <a:xfrm>
            <a:off x="932688" y="3072384"/>
            <a:ext cx="109728" cy="10972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34440" y="2962656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U-Net-style skip connections preserve object boundaries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32688" y="3657600"/>
            <a:ext cx="109728" cy="10972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234440" y="3547872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ConvTranspose decoder upsamples back to 128 x 128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32688" y="4242816"/>
            <a:ext cx="109728" cy="10972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234440" y="413308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Sigmoid output produces a one-channel saliency map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0392" y="62453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100" dirty="0">
                <a:solidFill>
                  <a:srgbClr val="64748B"/>
                </a:solidFill>
              </a:rPr>
              <a:t>sod_model.py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09960" y="62362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200" dirty="0">
                <a:solidFill>
                  <a:srgbClr val="64748B"/>
                </a:solidFill>
                <a:b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22960" y="749808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dirty="0">
                <a:solidFill>
                  <a:srgbClr val="111827"/>
                </a:solidFill>
                <a:b/>
              </a:rPr>
              <a:t>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392" y="1536192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700" dirty="0">
                <a:solidFill>
                  <a:srgbClr val="475569"/>
                </a:solidFill>
              </a:rPr>
              <a:t>Improved model beats the baseline and supports high precision</a:t>
            </a:r>
          </a:p>
        </p:txBody>
      </p:sp>
      <p:sp>
        <p:nvSpPr>
          <p:cNvPr id="6" name="Rectangle 6"/>
          <p:cNvSpPr/>
          <p:nvPr/>
        </p:nvSpPr>
        <p:spPr>
          <a:xfrm>
            <a:off x="932688" y="2487168"/>
            <a:ext cx="109728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34440" y="237744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Balanced mode: IoU 0.5364, F1 0.6915, recall 0.7711</a:t>
            </a:r>
          </a:p>
        </p:txBody>
      </p:sp>
      <p:sp>
        <p:nvSpPr>
          <p:cNvPr id="8" name="Rectangle 8"/>
          <p:cNvSpPr/>
          <p:nvPr/>
        </p:nvSpPr>
        <p:spPr>
          <a:xfrm>
            <a:off x="932688" y="3072384"/>
            <a:ext cx="109728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34440" y="2962656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High-precision mode: precision 0.8726 at threshold 0.94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32688" y="3657600"/>
            <a:ext cx="109728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234440" y="3547872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Baseline F1 improved from 0.6278 to 0.6915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32688" y="4242816"/>
            <a:ext cx="109728" cy="10972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234440" y="413308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Logs, checkpoints, metrics, and visual grids are saved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0392" y="62453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100" dirty="0">
                <a:solidFill>
                  <a:srgbClr val="64748B"/>
                </a:solidFill>
              </a:rPr>
              <a:t>checkpoints/improved + artifacts/evaluation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09960" y="62362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200" dirty="0">
                <a:solidFill>
                  <a:srgbClr val="64748B"/>
                </a:solidFill>
                <a:b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822960" y="749808"/>
            <a:ext cx="7132320" cy="71323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600" dirty="0">
                <a:solidFill>
                  <a:srgbClr val="111827"/>
                </a:solidFill>
                <a:b/>
              </a:rPr>
              <a:t>Demo and Next Steps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0392" y="1536192"/>
            <a:ext cx="7223760" cy="43891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700" dirty="0">
                <a:solidFill>
                  <a:srgbClr val="475569"/>
                </a:solidFill>
              </a:rPr>
              <a:t>Upload image -&gt; mask, overlay, and inference time</a:t>
            </a:r>
          </a:p>
        </p:txBody>
      </p:sp>
      <p:sp>
        <p:nvSpPr>
          <p:cNvPr id="6" name="Rectangle 6"/>
          <p:cNvSpPr/>
          <p:nvPr/>
        </p:nvSpPr>
        <p:spPr>
          <a:xfrm>
            <a:off x="932688" y="2487168"/>
            <a:ext cx="109728" cy="10972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34440" y="237744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Streamlit app loads the improved checkpoint by default</a:t>
            </a:r>
          </a:p>
        </p:txBody>
      </p:sp>
      <p:sp>
        <p:nvSpPr>
          <p:cNvPr id="8" name="Rectangle 8"/>
          <p:cNvSpPr/>
          <p:nvPr/>
        </p:nvSpPr>
        <p:spPr>
          <a:xfrm>
            <a:off x="932688" y="3072384"/>
            <a:ext cx="109728" cy="10972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34440" y="2962656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Notebook shows the same inference workflow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32688" y="3657600"/>
            <a:ext cx="109728" cy="10972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234440" y="3547872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Report PDF and five-slide deck are included</a:t>
            </a:r>
          </a:p>
        </p:txBody>
      </p:sp>
      <p:sp>
        <p:nvSpPr>
          <p:cNvPr id="12" name="Rectangle 12"/>
          <p:cNvSpPr/>
          <p:nvPr/>
        </p:nvSpPr>
        <p:spPr>
          <a:xfrm>
            <a:off x="932688" y="4242816"/>
            <a:ext cx="109728" cy="10972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234440" y="4133088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800" dirty="0">
                <a:solidFill>
                  <a:srgbClr val="1F2937"/>
                </a:solidFill>
              </a:rPr>
              <a:t>Repository is ready to share with the mentor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0392" y="624535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100" dirty="0">
                <a:solidFill>
                  <a:srgbClr val="64748B"/>
                </a:solidFill>
              </a:rPr>
              <a:t>app.py + demo_notebook.ipynb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09960" y="623620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200" dirty="0">
                <a:solidFill>
                  <a:srgbClr val="64748B"/>
                </a:solidFill>
                <a:b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D Theme">
  <a:themeElements>
    <a:clrScheme name="SOD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59669"/>
      </a:accent2>
      <a:accent3>
        <a:srgbClr val="DC2626"/>
      </a:accent3>
      <a:accent4>
        <a:srgbClr val="7C3AED"/>
      </a:accent4>
      <a:accent5>
        <a:srgbClr val="D97706"/>
      </a:accent5>
      <a:accent6>
        <a:srgbClr val="64748B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Salient Object Detection Project</dc:title>
  <dc:creator>Blenard Tahiraj</dc:creator>
</cp:coreProperties>
</file>